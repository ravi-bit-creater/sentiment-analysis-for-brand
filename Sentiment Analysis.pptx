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5502" r:id="rId2"/>
    <p:sldId id="5842" r:id="rId3"/>
    <p:sldId id="5843" r:id="rId4"/>
    <p:sldId id="5845" r:id="rId5"/>
    <p:sldId id="5846" r:id="rId6"/>
    <p:sldId id="5844" r:id="rId7"/>
    <p:sldId id="5848" r:id="rId8"/>
    <p:sldId id="5849" r:id="rId9"/>
    <p:sldId id="5850" r:id="rId10"/>
    <p:sldId id="5847" r:id="rId11"/>
    <p:sldId id="585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Manikandan" userId="d5378948fd1cbb67" providerId="LiveId" clId="{6F11744C-0B6C-4A9E-B531-7859DB83B8FC}"/>
    <pc:docChg chg="undo custSel addSld delSld modSld">
      <pc:chgData name="Ravi Manikandan" userId="d5378948fd1cbb67" providerId="LiveId" clId="{6F11744C-0B6C-4A9E-B531-7859DB83B8FC}" dt="2026-03-01T13:47:34.396" v="51" actId="1076"/>
      <pc:docMkLst>
        <pc:docMk/>
      </pc:docMkLst>
      <pc:sldChg chg="addSp delSp modSp add mod">
        <pc:chgData name="Ravi Manikandan" userId="d5378948fd1cbb67" providerId="LiveId" clId="{6F11744C-0B6C-4A9E-B531-7859DB83B8FC}" dt="2026-03-01T13:47:34.396" v="51" actId="1076"/>
        <pc:sldMkLst>
          <pc:docMk/>
          <pc:sldMk cId="939502345" sldId="5851"/>
        </pc:sldMkLst>
        <pc:spChg chg="del">
          <ac:chgData name="Ravi Manikandan" userId="d5378948fd1cbb67" providerId="LiveId" clId="{6F11744C-0B6C-4A9E-B531-7859DB83B8FC}" dt="2026-03-01T13:46:25.854" v="38" actId="478"/>
          <ac:spMkLst>
            <pc:docMk/>
            <pc:sldMk cId="939502345" sldId="5851"/>
            <ac:spMk id="2" creationId="{56AF68B3-3C67-30A0-CF11-77E5D02223D4}"/>
          </ac:spMkLst>
        </pc:spChg>
        <pc:spChg chg="del">
          <ac:chgData name="Ravi Manikandan" userId="d5378948fd1cbb67" providerId="LiveId" clId="{6F11744C-0B6C-4A9E-B531-7859DB83B8FC}" dt="2026-03-01T13:46:02.778" v="33" actId="478"/>
          <ac:spMkLst>
            <pc:docMk/>
            <pc:sldMk cId="939502345" sldId="5851"/>
            <ac:spMk id="3" creationId="{57BE89B5-B046-4B4F-77D7-163287C9591B}"/>
          </ac:spMkLst>
        </pc:spChg>
        <pc:spChg chg="del">
          <ac:chgData name="Ravi Manikandan" userId="d5378948fd1cbb67" providerId="LiveId" clId="{6F11744C-0B6C-4A9E-B531-7859DB83B8FC}" dt="2026-03-01T13:46:05.892" v="34" actId="478"/>
          <ac:spMkLst>
            <pc:docMk/>
            <pc:sldMk cId="939502345" sldId="5851"/>
            <ac:spMk id="5" creationId="{30D41F96-E912-C679-BDFA-A0E07FD8CD4E}"/>
          </ac:spMkLst>
        </pc:spChg>
        <pc:spChg chg="add del mod">
          <ac:chgData name="Ravi Manikandan" userId="d5378948fd1cbb67" providerId="LiveId" clId="{6F11744C-0B6C-4A9E-B531-7859DB83B8FC}" dt="2026-03-01T13:46:09.357" v="35" actId="478"/>
          <ac:spMkLst>
            <pc:docMk/>
            <pc:sldMk cId="939502345" sldId="5851"/>
            <ac:spMk id="7" creationId="{3CE96926-CFD2-24DD-AD27-8CD7F83754E6}"/>
          </ac:spMkLst>
        </pc:spChg>
        <pc:spChg chg="add mod">
          <ac:chgData name="Ravi Manikandan" userId="d5378948fd1cbb67" providerId="LiveId" clId="{6F11744C-0B6C-4A9E-B531-7859DB83B8FC}" dt="2026-03-01T13:47:34.396" v="51" actId="1076"/>
          <ac:spMkLst>
            <pc:docMk/>
            <pc:sldMk cId="939502345" sldId="5851"/>
            <ac:spMk id="8" creationId="{3434EC4F-D328-150B-E682-95F6F2ACA6D0}"/>
          </ac:spMkLst>
        </pc:spChg>
        <pc:spChg chg="add del mod">
          <ac:chgData name="Ravi Manikandan" userId="d5378948fd1cbb67" providerId="LiveId" clId="{6F11744C-0B6C-4A9E-B531-7859DB83B8FC}" dt="2026-03-01T13:46:27.435" v="39" actId="478"/>
          <ac:spMkLst>
            <pc:docMk/>
            <pc:sldMk cId="939502345" sldId="5851"/>
            <ac:spMk id="10" creationId="{D5D5715A-C671-1CBC-98B4-9A9F01196642}"/>
          </ac:spMkLst>
        </pc:spChg>
      </pc:sldChg>
      <pc:sldChg chg="addSp delSp modSp add del mod">
        <pc:chgData name="Ravi Manikandan" userId="d5378948fd1cbb67" providerId="LiveId" clId="{6F11744C-0B6C-4A9E-B531-7859DB83B8FC}" dt="2026-03-01T13:45:53.768" v="31" actId="2890"/>
        <pc:sldMkLst>
          <pc:docMk/>
          <pc:sldMk cId="1630597947" sldId="5851"/>
        </pc:sldMkLst>
        <pc:spChg chg="add del">
          <ac:chgData name="Ravi Manikandan" userId="d5378948fd1cbb67" providerId="LiveId" clId="{6F11744C-0B6C-4A9E-B531-7859DB83B8FC}" dt="2026-03-01T13:45:53.273" v="30" actId="478"/>
          <ac:spMkLst>
            <pc:docMk/>
            <pc:sldMk cId="1630597947" sldId="5851"/>
            <ac:spMk id="2" creationId="{9B613F06-FDAE-603A-9FF5-1D36127B6228}"/>
          </ac:spMkLst>
        </pc:spChg>
        <pc:spChg chg="add del">
          <ac:chgData name="Ravi Manikandan" userId="d5378948fd1cbb67" providerId="LiveId" clId="{6F11744C-0B6C-4A9E-B531-7859DB83B8FC}" dt="2026-03-01T13:45:52.476" v="28" actId="478"/>
          <ac:spMkLst>
            <pc:docMk/>
            <pc:sldMk cId="1630597947" sldId="5851"/>
            <ac:spMk id="3" creationId="{4D8CF7F4-EF77-CA85-7FFB-969AF0A9F8D5}"/>
          </ac:spMkLst>
        </pc:spChg>
        <pc:spChg chg="add del">
          <ac:chgData name="Ravi Manikandan" userId="d5378948fd1cbb67" providerId="LiveId" clId="{6F11744C-0B6C-4A9E-B531-7859DB83B8FC}" dt="2026-03-01T13:45:52.258" v="27" actId="478"/>
          <ac:spMkLst>
            <pc:docMk/>
            <pc:sldMk cId="1630597947" sldId="5851"/>
            <ac:spMk id="5" creationId="{CF4B3649-32FB-6439-F291-456FC0105C68}"/>
          </ac:spMkLst>
        </pc:spChg>
        <pc:spChg chg="add del mod">
          <ac:chgData name="Ravi Manikandan" userId="d5378948fd1cbb67" providerId="LiveId" clId="{6F11744C-0B6C-4A9E-B531-7859DB83B8FC}" dt="2026-03-01T13:45:53.273" v="30" actId="478"/>
          <ac:spMkLst>
            <pc:docMk/>
            <pc:sldMk cId="1630597947" sldId="5851"/>
            <ac:spMk id="7" creationId="{6573A471-7365-9BC0-B7EF-3C410A040EA3}"/>
          </ac:spMkLst>
        </pc:spChg>
        <pc:spChg chg="add del mod">
          <ac:chgData name="Ravi Manikandan" userId="d5378948fd1cbb67" providerId="LiveId" clId="{6F11744C-0B6C-4A9E-B531-7859DB83B8FC}" dt="2026-03-01T13:45:52.476" v="28" actId="478"/>
          <ac:spMkLst>
            <pc:docMk/>
            <pc:sldMk cId="1630597947" sldId="5851"/>
            <ac:spMk id="9" creationId="{8205F2F0-6155-FFEC-74C9-BC8A2FC833DF}"/>
          </ac:spMkLst>
        </pc:spChg>
      </pc:sldChg>
    </pc:docChg>
  </pc:docChgLst>
  <pc:docChgLst>
    <pc:chgData name="Gowtham K" userId="S::gowthamk@datapattern.ai::1196c046-8705-4efa-9107-15bfb2ba8795" providerId="AD" clId="Web-{4657AF8E-D190-4525-A778-6BDD59E8DC9A}"/>
    <pc:docChg chg="addSld delSld modSld">
      <pc:chgData name="Gowtham K" userId="S::gowthamk@datapattern.ai::1196c046-8705-4efa-9107-15bfb2ba8795" providerId="AD" clId="Web-{4657AF8E-D190-4525-A778-6BDD59E8DC9A}" dt="2026-02-26T10:44:59.705" v="4"/>
      <pc:docMkLst>
        <pc:docMk/>
      </pc:docMkLst>
      <pc:sldChg chg="new">
        <pc:chgData name="Gowtham K" userId="S::gowthamk@datapattern.ai::1196c046-8705-4efa-9107-15bfb2ba8795" providerId="AD" clId="Web-{4657AF8E-D190-4525-A778-6BDD59E8DC9A}" dt="2026-02-26T10:44:45.032" v="2"/>
        <pc:sldMkLst>
          <pc:docMk/>
          <pc:sldMk cId="3823055144" sldId="5842"/>
        </pc:sldMkLst>
      </pc:sldChg>
      <pc:sldChg chg="new">
        <pc:chgData name="Gowtham K" userId="S::gowthamk@datapattern.ai::1196c046-8705-4efa-9107-15bfb2ba8795" providerId="AD" clId="Web-{4657AF8E-D190-4525-A778-6BDD59E8DC9A}" dt="2026-02-26T10:44:48.360" v="3"/>
        <pc:sldMkLst>
          <pc:docMk/>
          <pc:sldMk cId="3970822129" sldId="58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14608-F309-41B5-90C5-66EFB64C0DE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E97CD-9EBE-4E49-ADB6-AC86150C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74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1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203200" y="72990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2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9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1" y="1945558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3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8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17217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195986"/>
            <a:ext cx="11300236" cy="71430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1"/>
            <a:ext cx="11300236" cy="13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8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3" y="6357328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E69FB-7722-AEB7-F5CC-F07034FDC5FD}"/>
              </a:ext>
            </a:extLst>
          </p:cNvPr>
          <p:cNvCxnSpPr>
            <a:cxnSpLocks/>
          </p:cNvCxnSpPr>
          <p:nvPr userDrawn="1"/>
        </p:nvCxnSpPr>
        <p:spPr>
          <a:xfrm>
            <a:off x="445883" y="906182"/>
            <a:ext cx="10898015" cy="0"/>
          </a:xfrm>
          <a:prstGeom prst="line">
            <a:avLst/>
          </a:prstGeom>
          <a:ln>
            <a:solidFill>
              <a:srgbClr val="F18A31">
                <a:alpha val="72000"/>
              </a:srgb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2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3/1/2026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838199" cy="184666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5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Freeform 5"/>
          <p:cNvSpPr/>
          <p:nvPr userDrawn="1"/>
        </p:nvSpPr>
        <p:spPr bwMode="gray">
          <a:xfrm rot="16200000">
            <a:off x="3747182" y="3268821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2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39967" y="2008520"/>
            <a:ext cx="10289680" cy="13815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DDCECB-ED66-4E99-9EED-BC8E6A1D8F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270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258B5-B018-0245-A255-48DC38274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557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46">
              <a:defRPr/>
            </a:pPr>
            <a:fld id="{DD578E96-FCC1-784A-B328-9A60C05A1D47}" type="datetime1">
              <a:rPr lang="en-US" smtClean="0">
                <a:solidFill>
                  <a:srgbClr val="3F3F3F"/>
                </a:solidFill>
              </a:rPr>
              <a:pPr defTabSz="914446">
                <a:defRPr/>
              </a:pPr>
              <a:t>3/1/2026</a:t>
            </a:fld>
            <a:endParaRPr lang="en-US">
              <a:solidFill>
                <a:srgbClr val="3F3F3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46">
              <a:defRPr/>
            </a:pPr>
            <a:endParaRPr lang="en-US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6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1DAFC5D9-9B93-C04D-97CB-878064126594}" type="datetime1">
              <a:rPr lang="en-US" smtClean="0"/>
              <a:t>3/1/2026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838199" cy="184666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5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Freeform 5"/>
          <p:cNvSpPr/>
          <p:nvPr userDrawn="1"/>
        </p:nvSpPr>
        <p:spPr bwMode="gray">
          <a:xfrm rot="16200000">
            <a:off x="3747182" y="3268821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91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11717871" y="6563928"/>
            <a:ext cx="46566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AB5816-974A-4D7A-A532-5700C169E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0892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4E2498-A048-2783-C4FB-D7CA993C9B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87FFEAB-67A9-B207-0842-A1B574762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2585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D5B1B0-C1A3-5237-52D2-1DD996BEF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6" y="1800737"/>
            <a:ext cx="10515600" cy="3892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Box 12" descr="page number">
            <a:extLst>
              <a:ext uri="{FF2B5EF4-FFF2-40B4-BE49-F238E27FC236}">
                <a16:creationId xmlns:a16="http://schemas.microsoft.com/office/drawing/2014/main" id="{F1EBFCB3-064E-C9C9-75F5-956FE9C11B99}"/>
              </a:ext>
            </a:extLst>
          </p:cNvPr>
          <p:cNvSpPr txBox="1"/>
          <p:nvPr userDrawn="1"/>
        </p:nvSpPr>
        <p:spPr>
          <a:xfrm>
            <a:off x="11795407" y="6588185"/>
            <a:ext cx="15068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4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libri" panose="020F0502020204030204" pitchFamily="34" charset="0"/>
                <a:ea typeface="Intel Clear" panose="020B0604020203020204" pitchFamily="34" charset="0"/>
                <a:cs typeface="Calibri" panose="020F0502020204030204" pitchFamily="34" charset="0"/>
                <a:sym typeface="Helvetica Neue"/>
              </a:rPr>
              <a:pPr marL="0" marR="0" indent="0" algn="ctr" defTabSz="24384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Calibri" panose="020F0502020204030204" pitchFamily="34" charset="0"/>
              <a:ea typeface="Intel Clear" panose="020B0604020203020204" pitchFamily="34" charset="0"/>
              <a:cs typeface="Calibri" panose="020F0502020204030204" pitchFamily="34" charset="0"/>
              <a:sym typeface="Helvetica Neue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4FB7D88-4F43-62D6-0EF9-222B457DE2CF}"/>
              </a:ext>
            </a:extLst>
          </p:cNvPr>
          <p:cNvGrpSpPr/>
          <p:nvPr userDrawn="1"/>
        </p:nvGrpSpPr>
        <p:grpSpPr>
          <a:xfrm>
            <a:off x="11153777" y="6525928"/>
            <a:ext cx="514271" cy="332074"/>
            <a:chOff x="11153776" y="6525314"/>
            <a:chExt cx="514271" cy="3326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A1E4-0F90-35A5-36FD-7CB28EFEA1D4}"/>
                </a:ext>
              </a:extLst>
            </p:cNvPr>
            <p:cNvSpPr/>
            <p:nvPr userDrawn="1"/>
          </p:nvSpPr>
          <p:spPr>
            <a:xfrm>
              <a:off x="11458575" y="6525314"/>
              <a:ext cx="104950" cy="163425"/>
            </a:xfrm>
            <a:prstGeom prst="rect">
              <a:avLst/>
            </a:prstGeom>
            <a:solidFill>
              <a:srgbClr val="013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0EC1A7-CB3A-010A-DEB3-A64889416BE0}"/>
                </a:ext>
              </a:extLst>
            </p:cNvPr>
            <p:cNvSpPr/>
            <p:nvPr userDrawn="1"/>
          </p:nvSpPr>
          <p:spPr>
            <a:xfrm>
              <a:off x="11565324" y="6686550"/>
              <a:ext cx="102723" cy="171450"/>
            </a:xfrm>
            <a:prstGeom prst="rect">
              <a:avLst/>
            </a:prstGeom>
            <a:solidFill>
              <a:srgbClr val="013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DE9871-6354-F271-D639-25C2C835E8D7}"/>
                </a:ext>
              </a:extLst>
            </p:cNvPr>
            <p:cNvSpPr/>
            <p:nvPr userDrawn="1"/>
          </p:nvSpPr>
          <p:spPr>
            <a:xfrm>
              <a:off x="11153776" y="6686551"/>
              <a:ext cx="303938" cy="171450"/>
            </a:xfrm>
            <a:prstGeom prst="rect">
              <a:avLst/>
            </a:prstGeom>
            <a:solidFill>
              <a:srgbClr val="013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Calibri" panose="020F0502020204030204" pitchFamily="34" charset="0"/>
              </a:endParaRP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DDB90E9-ADF1-7282-BA47-AEEE8F8B43C6}"/>
              </a:ext>
            </a:extLst>
          </p:cNvPr>
          <p:cNvCxnSpPr>
            <a:cxnSpLocks/>
          </p:cNvCxnSpPr>
          <p:nvPr userDrawn="1"/>
        </p:nvCxnSpPr>
        <p:spPr>
          <a:xfrm>
            <a:off x="0" y="651991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ue and orange logo&#10;&#10;Description automatically generated">
            <a:extLst>
              <a:ext uri="{FF2B5EF4-FFF2-40B4-BE49-F238E27FC236}">
                <a16:creationId xmlns:a16="http://schemas.microsoft.com/office/drawing/2014/main" id="{F1A64E8E-C8D9-4991-2ACC-55EB708D54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1480" y="6608170"/>
            <a:ext cx="689049" cy="174165"/>
          </a:xfrm>
          <a:prstGeom prst="rect">
            <a:avLst/>
          </a:prstGeom>
        </p:spPr>
      </p:pic>
      <p:sp>
        <p:nvSpPr>
          <p:cNvPr id="6" name="Rectangle 5" descr="Department or Event Name">
            <a:extLst>
              <a:ext uri="{FF2B5EF4-FFF2-40B4-BE49-F238E27FC236}">
                <a16:creationId xmlns:a16="http://schemas.microsoft.com/office/drawing/2014/main" id="{A284BA5B-7C11-1AD4-6015-3746033F2AC7}"/>
              </a:ext>
            </a:extLst>
          </p:cNvPr>
          <p:cNvSpPr/>
          <p:nvPr userDrawn="1"/>
        </p:nvSpPr>
        <p:spPr>
          <a:xfrm>
            <a:off x="4817435" y="6599771"/>
            <a:ext cx="2186817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650">
                <a:latin typeface="Calibri" panose="020F0502020204030204" pitchFamily="34" charset="0"/>
              </a:rPr>
              <a:t>(c) 2024 Articul8 AI, Inc. – Confidential – Shared under NDA</a:t>
            </a:r>
            <a:endParaRPr lang="en-US" sz="650" b="0" i="0">
              <a:solidFill>
                <a:schemeClr val="tx1"/>
              </a:solidFill>
              <a:latin typeface="Calibri" panose="020F0502020204030204" pitchFamily="34" charset="0"/>
              <a:ea typeface="Intel Clear" panose="020B060402020302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6DFCD9-A7FC-96C4-8B80-9FEE031A4063}"/>
              </a:ext>
            </a:extLst>
          </p:cNvPr>
          <p:cNvGrpSpPr/>
          <p:nvPr userDrawn="1"/>
        </p:nvGrpSpPr>
        <p:grpSpPr>
          <a:xfrm>
            <a:off x="2" y="6524940"/>
            <a:ext cx="531118" cy="333061"/>
            <a:chOff x="1" y="6524939"/>
            <a:chExt cx="634999" cy="33306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1B4D68E-0946-4732-2764-C0475B232536}"/>
                </a:ext>
              </a:extLst>
            </p:cNvPr>
            <p:cNvSpPr/>
            <p:nvPr userDrawn="1"/>
          </p:nvSpPr>
          <p:spPr>
            <a:xfrm>
              <a:off x="1" y="6524939"/>
              <a:ext cx="209549" cy="333059"/>
            </a:xfrm>
            <a:custGeom>
              <a:avLst/>
              <a:gdLst>
                <a:gd name="connsiteX0" fmla="*/ 0 w 209549"/>
                <a:gd name="connsiteY0" fmla="*/ 0 h 332686"/>
                <a:gd name="connsiteX1" fmla="*/ 101600 w 209549"/>
                <a:gd name="connsiteY1" fmla="*/ 0 h 332686"/>
                <a:gd name="connsiteX2" fmla="*/ 101600 w 209549"/>
                <a:gd name="connsiteY2" fmla="*/ 986 h 332686"/>
                <a:gd name="connsiteX3" fmla="*/ 209549 w 209549"/>
                <a:gd name="connsiteY3" fmla="*/ 986 h 332686"/>
                <a:gd name="connsiteX4" fmla="*/ 209549 w 209549"/>
                <a:gd name="connsiteY4" fmla="*/ 164411 h 332686"/>
                <a:gd name="connsiteX5" fmla="*/ 101600 w 209549"/>
                <a:gd name="connsiteY5" fmla="*/ 164411 h 332686"/>
                <a:gd name="connsiteX6" fmla="*/ 101600 w 209549"/>
                <a:gd name="connsiteY6" fmla="*/ 332686 h 332686"/>
                <a:gd name="connsiteX7" fmla="*/ 0 w 209549"/>
                <a:gd name="connsiteY7" fmla="*/ 332686 h 33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49" h="332686">
                  <a:moveTo>
                    <a:pt x="0" y="0"/>
                  </a:moveTo>
                  <a:lnTo>
                    <a:pt x="101600" y="0"/>
                  </a:lnTo>
                  <a:lnTo>
                    <a:pt x="101600" y="986"/>
                  </a:lnTo>
                  <a:lnTo>
                    <a:pt x="209549" y="986"/>
                  </a:lnTo>
                  <a:lnTo>
                    <a:pt x="209549" y="164411"/>
                  </a:lnTo>
                  <a:lnTo>
                    <a:pt x="101600" y="164411"/>
                  </a:lnTo>
                  <a:lnTo>
                    <a:pt x="101600" y="332686"/>
                  </a:lnTo>
                  <a:lnTo>
                    <a:pt x="0" y="332686"/>
                  </a:lnTo>
                  <a:close/>
                </a:path>
              </a:pathLst>
            </a:custGeom>
            <a:solidFill>
              <a:srgbClr val="013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>
                <a:latin typeface="Calibri" panose="020F0502020204030204" pitchFamily="34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EEA536C-4EC0-D016-9071-194FBC9DDC1C}"/>
                </a:ext>
              </a:extLst>
            </p:cNvPr>
            <p:cNvSpPr/>
            <p:nvPr userDrawn="1"/>
          </p:nvSpPr>
          <p:spPr>
            <a:xfrm>
              <a:off x="210393" y="6525928"/>
              <a:ext cx="424607" cy="332072"/>
            </a:xfrm>
            <a:custGeom>
              <a:avLst/>
              <a:gdLst>
                <a:gd name="connsiteX0" fmla="*/ 323007 w 424607"/>
                <a:gd name="connsiteY0" fmla="*/ 0 h 331700"/>
                <a:gd name="connsiteX1" fmla="*/ 424607 w 424607"/>
                <a:gd name="connsiteY1" fmla="*/ 0 h 331700"/>
                <a:gd name="connsiteX2" fmla="*/ 424607 w 424607"/>
                <a:gd name="connsiteY2" fmla="*/ 163424 h 331700"/>
                <a:gd name="connsiteX3" fmla="*/ 424607 w 424607"/>
                <a:gd name="connsiteY3" fmla="*/ 331700 h 331700"/>
                <a:gd name="connsiteX4" fmla="*/ 323007 w 424607"/>
                <a:gd name="connsiteY4" fmla="*/ 331700 h 331700"/>
                <a:gd name="connsiteX5" fmla="*/ 0 w 424607"/>
                <a:gd name="connsiteY5" fmla="*/ 331700 h 331700"/>
                <a:gd name="connsiteX6" fmla="*/ 0 w 424607"/>
                <a:gd name="connsiteY6" fmla="*/ 163424 h 331700"/>
                <a:gd name="connsiteX7" fmla="*/ 323007 w 424607"/>
                <a:gd name="connsiteY7" fmla="*/ 163424 h 33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4607" h="331700">
                  <a:moveTo>
                    <a:pt x="323007" y="0"/>
                  </a:moveTo>
                  <a:lnTo>
                    <a:pt x="424607" y="0"/>
                  </a:lnTo>
                  <a:lnTo>
                    <a:pt x="424607" y="163424"/>
                  </a:lnTo>
                  <a:lnTo>
                    <a:pt x="424607" y="331700"/>
                  </a:lnTo>
                  <a:lnTo>
                    <a:pt x="323007" y="331700"/>
                  </a:lnTo>
                  <a:lnTo>
                    <a:pt x="0" y="331700"/>
                  </a:lnTo>
                  <a:lnTo>
                    <a:pt x="0" y="163424"/>
                  </a:lnTo>
                  <a:lnTo>
                    <a:pt x="323007" y="163424"/>
                  </a:lnTo>
                  <a:close/>
                </a:path>
              </a:pathLst>
            </a:custGeom>
            <a:solidFill>
              <a:srgbClr val="013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092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6E250-8C04-4D62-9CB2-2B7E46FF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1F2D-E3A3-B34A-8C97-CD0456629075}" type="datetime1">
              <a:rPr lang="en-US" smtClean="0"/>
              <a:t>3/1/2026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F2B3-A0E6-4327-8D38-D8F2690C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91ED-28E0-4D7F-B506-44A67BDF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253-7455-46C9-BD4C-CB6661B7FE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773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D6418-E216-C64F-BF26-5BDA3C39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316008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0821-D19D-A148-BAC4-6F471600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673915"/>
            <a:ext cx="11300236" cy="138157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8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3" y="6357328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D067D-7D1A-D643-89DD-494771B9F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931"/>
          <a:stretch/>
        </p:blipFill>
        <p:spPr>
          <a:xfrm>
            <a:off x="11303724" y="6174735"/>
            <a:ext cx="542837" cy="54674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 flipH="1">
            <a:off x="465668" y="6071330"/>
            <a:ext cx="10923693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31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+mn-lt"/>
          <a:ea typeface="Segoe UI Historic" panose="020B0502040204020203" pitchFamily="34" charset="0"/>
          <a:cs typeface="Segoe UI Historic" panose="020B0502040204020203" pitchFamily="34" charset="0"/>
        </a:defRPr>
      </a:lvl1pPr>
    </p:titleStyle>
    <p:bodyStyle>
      <a:lvl1pPr marL="180984" indent="-180984" algn="l" defTabSz="914446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12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61968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8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2952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14411" indent="-171459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7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95395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Calibri" panose="020F0502020204030204" pitchFamily="34" charset="0"/>
        <a:buChar char="‐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1369B-EEB1-0083-FEFE-2B5E7D7A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253-7455-46C9-BD4C-CB6661B7FEAE}" type="slidenum">
              <a:rPr lang="en-CA" smtClean="0"/>
              <a:t>1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496A2-5081-DCFC-8DEC-FF1B8122B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89863" y="0"/>
            <a:ext cx="6457025" cy="6858000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ED50B5B-2DBA-9A1D-FBA5-359AACBBCE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546" t="40603" r="18637" b="43215"/>
          <a:stretch/>
        </p:blipFill>
        <p:spPr bwMode="gray">
          <a:xfrm>
            <a:off x="124692" y="470252"/>
            <a:ext cx="4724399" cy="92753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611BE4E-1AC8-E64D-0242-3065DC3651CA}"/>
              </a:ext>
            </a:extLst>
          </p:cNvPr>
          <p:cNvGrpSpPr/>
          <p:nvPr/>
        </p:nvGrpSpPr>
        <p:grpSpPr>
          <a:xfrm>
            <a:off x="0" y="1860252"/>
            <a:ext cx="6885709" cy="4997748"/>
            <a:chOff x="2646012" y="912574"/>
            <a:chExt cx="6144594" cy="4847604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6F49854-5C45-5549-2BBF-5159970892DD}"/>
                </a:ext>
              </a:extLst>
            </p:cNvPr>
            <p:cNvSpPr/>
            <p:nvPr/>
          </p:nvSpPr>
          <p:spPr bwMode="gray">
            <a:xfrm flipH="1">
              <a:off x="2646012" y="912574"/>
              <a:ext cx="6144594" cy="4847604"/>
            </a:xfrm>
            <a:custGeom>
              <a:avLst/>
              <a:gdLst>
                <a:gd name="connsiteX0" fmla="*/ 1209872 w 6187440"/>
                <a:gd name="connsiteY0" fmla="*/ 0 h 4839487"/>
                <a:gd name="connsiteX1" fmla="*/ 6187440 w 6187440"/>
                <a:gd name="connsiteY1" fmla="*/ 0 h 4839487"/>
                <a:gd name="connsiteX2" fmla="*/ 6187440 w 6187440"/>
                <a:gd name="connsiteY2" fmla="*/ 4839487 h 4839487"/>
                <a:gd name="connsiteX3" fmla="*/ 0 w 6187440"/>
                <a:gd name="connsiteY3" fmla="*/ 4839487 h 48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7440" h="4839487">
                  <a:moveTo>
                    <a:pt x="1209872" y="0"/>
                  </a:moveTo>
                  <a:lnTo>
                    <a:pt x="6187440" y="0"/>
                  </a:lnTo>
                  <a:lnTo>
                    <a:pt x="6187440" y="4839487"/>
                  </a:lnTo>
                  <a:lnTo>
                    <a:pt x="0" y="4839487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039BD1-934C-B41B-C579-B5425CA38A5D}"/>
                </a:ext>
              </a:extLst>
            </p:cNvPr>
            <p:cNvSpPr/>
            <p:nvPr/>
          </p:nvSpPr>
          <p:spPr bwMode="gray">
            <a:xfrm flipH="1">
              <a:off x="2688019" y="1011642"/>
              <a:ext cx="5776725" cy="4649469"/>
            </a:xfrm>
            <a:custGeom>
              <a:avLst/>
              <a:gdLst>
                <a:gd name="connsiteX0" fmla="*/ 1209872 w 6187440"/>
                <a:gd name="connsiteY0" fmla="*/ 0 h 4839487"/>
                <a:gd name="connsiteX1" fmla="*/ 6187440 w 6187440"/>
                <a:gd name="connsiteY1" fmla="*/ 0 h 4839487"/>
                <a:gd name="connsiteX2" fmla="*/ 6187440 w 6187440"/>
                <a:gd name="connsiteY2" fmla="*/ 4839487 h 4839487"/>
                <a:gd name="connsiteX3" fmla="*/ 0 w 6187440"/>
                <a:gd name="connsiteY3" fmla="*/ 4839487 h 48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7440" h="4839487">
                  <a:moveTo>
                    <a:pt x="1209872" y="0"/>
                  </a:moveTo>
                  <a:lnTo>
                    <a:pt x="6187440" y="0"/>
                  </a:lnTo>
                  <a:lnTo>
                    <a:pt x="6187440" y="4839487"/>
                  </a:lnTo>
                  <a:lnTo>
                    <a:pt x="0" y="483948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CA" sz="4000" b="1" dirty="0">
                <a:solidFill>
                  <a:schemeClr val="tx1"/>
                </a:solidFill>
                <a:latin typeface="Bodoni MT" panose="02070603080606020203" pitchFamily="18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BDFE5A93-1060-4689-F600-1900C787324F}"/>
                </a:ext>
              </a:extLst>
            </p:cNvPr>
            <p:cNvSpPr/>
            <p:nvPr/>
          </p:nvSpPr>
          <p:spPr>
            <a:xfrm flipH="1">
              <a:off x="7628152" y="1875648"/>
              <a:ext cx="973931" cy="2929573"/>
            </a:xfrm>
            <a:prstGeom prst="parallelogram">
              <a:avLst>
                <a:gd name="adj" fmla="val 74084"/>
              </a:avLst>
            </a:prstGeom>
            <a:solidFill>
              <a:srgbClr val="033C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CC0852D-AB86-BA1B-8595-F0546450AB25}"/>
                </a:ext>
              </a:extLst>
            </p:cNvPr>
            <p:cNvSpPr/>
            <p:nvPr/>
          </p:nvSpPr>
          <p:spPr>
            <a:xfrm flipH="1">
              <a:off x="7773519" y="2002731"/>
              <a:ext cx="889434" cy="2675406"/>
            </a:xfrm>
            <a:prstGeom prst="parallelogram">
              <a:avLst>
                <a:gd name="adj" fmla="val 74084"/>
              </a:avLst>
            </a:prstGeom>
            <a:solidFill>
              <a:srgbClr val="F18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75F5DF86-FEFC-66F4-3900-8A040669423F}"/>
              </a:ext>
            </a:extLst>
          </p:cNvPr>
          <p:cNvSpPr txBox="1">
            <a:spLocks/>
          </p:cNvSpPr>
          <p:nvPr/>
        </p:nvSpPr>
        <p:spPr bwMode="gray">
          <a:xfrm>
            <a:off x="359411" y="2640013"/>
            <a:ext cx="4724400" cy="1893252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10D57-D14B-3B38-C25E-86BF1CCDE839}"/>
              </a:ext>
            </a:extLst>
          </p:cNvPr>
          <p:cNvSpPr txBox="1"/>
          <p:nvPr/>
        </p:nvSpPr>
        <p:spPr>
          <a:xfrm>
            <a:off x="207621" y="3131526"/>
            <a:ext cx="51220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b="1" dirty="0">
                <a:latin typeface="Bodoni MT" panose="020706030806060202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Social Media Sentiment Classification for Brand Monitoring</a:t>
            </a:r>
          </a:p>
          <a:p>
            <a:r>
              <a:rPr lang="en-IN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92759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5B86-2881-9DFB-8259-A6CC92AA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2535-1882-D029-7E67-5A7FEE03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1"/>
            <a:ext cx="11300236" cy="476534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In today’s digital world, customers express their opinions through: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Social media posts (YouTube, Twitter, Instagram)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Product reviews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Online feedback platforms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For brands, manually analyzing thousands of comments is: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Time-consuming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Inaccurate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Not scalable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Additionally</a:t>
            </a:r>
            <a:endParaRPr lang="en-US" sz="1800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Sentiment varies across regions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Changes over time period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Differs by product aspect (price, delivery, quality)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 Includes multilingual text, slang and sarcasm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49A25-4C11-283B-7E44-A18B78799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05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17B5-B7E0-1702-35CC-F525E3A4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ACCA-C5A0-72B4-1574-8D224F505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82" y="1004082"/>
            <a:ext cx="11300236" cy="502701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To solve the problem, we developed an Automated Brand Sentiment Monitoring System that: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1. Collect data from Multiple Sources: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YouTube Comments (via API)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Product review CSV files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Manual text input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2. Process multilingual &amp; Unstructured text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Text cleaning (remove URLs, symbols)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Negation handling (not good </a:t>
            </a:r>
            <a:r>
              <a:rPr lang="en-IN" sz="1800" dirty="0"/>
              <a:t>→ </a:t>
            </a:r>
            <a:r>
              <a:rPr lang="en-IN" sz="1800" dirty="0" err="1"/>
              <a:t>not_good</a:t>
            </a:r>
            <a:r>
              <a:rPr lang="en-IN" sz="1800" dirty="0"/>
              <a:t>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Slang normalization (mass → </a:t>
            </a:r>
            <a:r>
              <a:rPr lang="en-IN" sz="1800" dirty="0" err="1"/>
              <a:t>very_good</a:t>
            </a:r>
            <a:r>
              <a:rPr lang="en-IN" sz="1800" dirty="0"/>
              <a:t>, waste → </a:t>
            </a:r>
            <a:r>
              <a:rPr lang="en-IN" sz="1800" dirty="0" err="1"/>
              <a:t>very_bad</a:t>
            </a:r>
            <a:r>
              <a:rPr lang="en-IN" sz="1800" dirty="0"/>
              <a:t>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Handles Tamil English mix comments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3. Classify Sentiment using Machine Learning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TF-IDF vectorization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Linear SVC model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Predicts </a:t>
            </a:r>
            <a:r>
              <a:rPr lang="en-IN" dirty="0"/>
              <a:t>→  (Positive, Negative, </a:t>
            </a:r>
            <a:r>
              <a:rPr lang="en-IN" dirty="0" err="1"/>
              <a:t>Netural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A518A-AAB9-6AEB-FCCF-F756E5005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3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B790E-8428-9494-FB43-520F8FCD4011}"/>
              </a:ext>
            </a:extLst>
          </p:cNvPr>
          <p:cNvSpPr txBox="1"/>
          <p:nvPr/>
        </p:nvSpPr>
        <p:spPr>
          <a:xfrm>
            <a:off x="6520543" y="1280655"/>
            <a:ext cx="4963886" cy="42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4. Detects Sarcasm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Emoji Based detection (🙃, 😂, 🤡)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Phrase patterns (yeah right, wow great…)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Negative cue + Positive Phrase detection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5. Provide Business Insights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Sentiment Distribution Charts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Weekly negative trend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Top negative keywords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Region &amp; aspect analysis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Alert system for negative spikes</a:t>
            </a:r>
          </a:p>
        </p:txBody>
      </p:sp>
    </p:spTree>
    <p:extLst>
      <p:ext uri="{BB962C8B-B14F-4D97-AF65-F5344CB8AC3E}">
        <p14:creationId xmlns:p14="http://schemas.microsoft.com/office/powerpoint/2010/main" val="397082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B69E-1AD3-C9B1-8B50-3855538A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5052-3A46-1534-717B-9BF3E25F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CBBA8-48EE-73E7-DD7D-2C9E2EE93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746C291-025A-67A4-7048-FCE0861F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1"/>
            <a:ext cx="11300236" cy="46782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F2022C-3D7F-0C3F-8F97-C79C51975D45}"/>
              </a:ext>
            </a:extLst>
          </p:cNvPr>
          <p:cNvSpPr txBox="1"/>
          <p:nvPr/>
        </p:nvSpPr>
        <p:spPr>
          <a:xfrm>
            <a:off x="761999" y="1430210"/>
            <a:ext cx="2884714" cy="132343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Data Source</a:t>
            </a:r>
          </a:p>
          <a:p>
            <a:r>
              <a:rPr lang="en-US" sz="1600" dirty="0"/>
              <a:t>1. YouTube comments (via API)</a:t>
            </a:r>
            <a:br>
              <a:rPr lang="en-US" sz="1600" dirty="0"/>
            </a:br>
            <a:r>
              <a:rPr lang="en-US" sz="1600" dirty="0"/>
              <a:t>2. CSV reviews (upload)</a:t>
            </a:r>
          </a:p>
          <a:p>
            <a:r>
              <a:rPr lang="en-US" sz="1600" dirty="0"/>
              <a:t>3. Manual text input</a:t>
            </a:r>
          </a:p>
          <a:p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7EA77F-30D6-68A4-B1ED-0ED1D9A1A3C8}"/>
              </a:ext>
            </a:extLst>
          </p:cNvPr>
          <p:cNvSpPr txBox="1"/>
          <p:nvPr/>
        </p:nvSpPr>
        <p:spPr>
          <a:xfrm>
            <a:off x="4650614" y="1423506"/>
            <a:ext cx="3437471" cy="132343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Preprocessing (NLP Layer)</a:t>
            </a:r>
          </a:p>
          <a:p>
            <a:r>
              <a:rPr lang="en-US" sz="1600" dirty="0"/>
              <a:t>1. Clean text</a:t>
            </a:r>
            <a:br>
              <a:rPr lang="en-US" sz="1600" dirty="0"/>
            </a:br>
            <a:r>
              <a:rPr lang="en-US" sz="1600" dirty="0"/>
              <a:t>2. Negation handling</a:t>
            </a:r>
          </a:p>
          <a:p>
            <a:r>
              <a:rPr lang="en-US" sz="1600" dirty="0"/>
              <a:t>3. Slang normalization</a:t>
            </a:r>
          </a:p>
          <a:p>
            <a:r>
              <a:rPr lang="en-US" sz="1600" dirty="0"/>
              <a:t>4. Token normalization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6BB870-71B2-CC4A-E158-D25D1A2F5B73}"/>
              </a:ext>
            </a:extLst>
          </p:cNvPr>
          <p:cNvSpPr txBox="1"/>
          <p:nvPr/>
        </p:nvSpPr>
        <p:spPr>
          <a:xfrm>
            <a:off x="8633926" y="2539724"/>
            <a:ext cx="2586135" cy="58477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Feature Engineering layer</a:t>
            </a:r>
          </a:p>
          <a:p>
            <a:r>
              <a:rPr lang="en-US" sz="1600" dirty="0"/>
              <a:t>1. TF-IDF vectorization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06D8D-9BC0-56B8-159D-82CAD7AEFE20}"/>
              </a:ext>
            </a:extLst>
          </p:cNvPr>
          <p:cNvSpPr txBox="1"/>
          <p:nvPr/>
        </p:nvSpPr>
        <p:spPr>
          <a:xfrm>
            <a:off x="8633925" y="3429000"/>
            <a:ext cx="2586135" cy="861774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ML Model layer</a:t>
            </a:r>
          </a:p>
          <a:p>
            <a:r>
              <a:rPr lang="en-US" sz="1600" dirty="0"/>
              <a:t>1. Linear SVC Classifies </a:t>
            </a:r>
          </a:p>
          <a:p>
            <a:r>
              <a:rPr lang="en-US" sz="1600" dirty="0"/>
              <a:t>Output : Pos / Neg / Neu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AE0720-C247-AC3F-2956-C18738DBC13B}"/>
              </a:ext>
            </a:extLst>
          </p:cNvPr>
          <p:cNvSpPr txBox="1"/>
          <p:nvPr/>
        </p:nvSpPr>
        <p:spPr>
          <a:xfrm>
            <a:off x="4650614" y="4225942"/>
            <a:ext cx="3437471" cy="132343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Extra Intelligence Layer</a:t>
            </a:r>
          </a:p>
          <a:p>
            <a:r>
              <a:rPr lang="en-US" sz="1600" dirty="0"/>
              <a:t>1. Sarcasm Detection</a:t>
            </a:r>
          </a:p>
          <a:p>
            <a:r>
              <a:rPr lang="en-US" sz="1600" dirty="0"/>
              <a:t>2. Keyword Extraction</a:t>
            </a:r>
          </a:p>
          <a:p>
            <a:r>
              <a:rPr lang="en-US" sz="1600" dirty="0"/>
              <a:t>3. Trend Aggregation</a:t>
            </a:r>
          </a:p>
          <a:p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C75998-62E9-348C-0880-3CE10CBBF8F7}"/>
              </a:ext>
            </a:extLst>
          </p:cNvPr>
          <p:cNvSpPr txBox="1"/>
          <p:nvPr/>
        </p:nvSpPr>
        <p:spPr>
          <a:xfrm>
            <a:off x="761999" y="4225458"/>
            <a:ext cx="2796077" cy="1354217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Streamlit</a:t>
            </a:r>
            <a:r>
              <a:rPr lang="en-US" sz="1600" b="1" dirty="0"/>
              <a:t> web application</a:t>
            </a:r>
          </a:p>
          <a:p>
            <a:r>
              <a:rPr lang="en-US" sz="1600" dirty="0"/>
              <a:t>1. Dashboard &amp; Charts</a:t>
            </a:r>
          </a:p>
          <a:p>
            <a:r>
              <a:rPr lang="en-US" sz="1600" dirty="0"/>
              <a:t>2. YouTube Analysis</a:t>
            </a:r>
          </a:p>
          <a:p>
            <a:r>
              <a:rPr lang="en-US" sz="1600" dirty="0"/>
              <a:t>3. Bulk Prediction + Download</a:t>
            </a:r>
          </a:p>
          <a:p>
            <a:r>
              <a:rPr lang="en-US" sz="1600" dirty="0"/>
              <a:t>4. Alerts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0EC631-1F65-B534-C9D0-B22C1E98521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3646713" y="2085226"/>
            <a:ext cx="1003901" cy="67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944C5F-8F36-CAA4-7F67-D66467FC2383}"/>
              </a:ext>
            </a:extLst>
          </p:cNvPr>
          <p:cNvCxnSpPr>
            <a:stCxn id="19" idx="3"/>
          </p:cNvCxnSpPr>
          <p:nvPr/>
        </p:nvCxnSpPr>
        <p:spPr>
          <a:xfrm flipV="1">
            <a:off x="8088085" y="2085225"/>
            <a:ext cx="1727034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BE2E05-14B7-1A32-4398-F5F00226E8CB}"/>
              </a:ext>
            </a:extLst>
          </p:cNvPr>
          <p:cNvCxnSpPr/>
          <p:nvPr/>
        </p:nvCxnSpPr>
        <p:spPr>
          <a:xfrm>
            <a:off x="9815119" y="2091929"/>
            <a:ext cx="0" cy="447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1CBF6F-D6EB-A708-6009-E5D610047D99}"/>
              </a:ext>
            </a:extLst>
          </p:cNvPr>
          <p:cNvCxnSpPr/>
          <p:nvPr/>
        </p:nvCxnSpPr>
        <p:spPr>
          <a:xfrm>
            <a:off x="9926992" y="4290774"/>
            <a:ext cx="0" cy="7845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B6DB063-0B4F-61CF-59B9-51E27EA1B728}"/>
              </a:ext>
            </a:extLst>
          </p:cNvPr>
          <p:cNvCxnSpPr/>
          <p:nvPr/>
        </p:nvCxnSpPr>
        <p:spPr>
          <a:xfrm flipH="1">
            <a:off x="8088085" y="5066950"/>
            <a:ext cx="18389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9E855EE-62A5-CE37-CC39-A83DB1505AFB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flipH="1" flipV="1">
            <a:off x="3558076" y="4887661"/>
            <a:ext cx="109253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8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73AA-8581-B967-9514-8582E87D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9026-FB9B-AA9E-CB7C-778EB9E3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C90FE-8A8D-6908-40D4-11B50B53B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3F390F-F8B3-FFF2-041A-C622C8A8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906113"/>
            <a:ext cx="11300236" cy="521681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1. Input Layer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Takes data from YouTube API, CSV upload and user manual input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2. Preprocessing Layer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Clean unstructured multilingual text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Handles slang + negations to avoid wrong prediction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3. Feature Engineering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TF-IDF convert text into numerical vectors for ML model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4. Model Layer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Linear SVC predicts sentiment category: Positive / Negative / Neutral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5. Intelligence Layer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Sarcasm flagging + top negative key word extraction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Weekly negative trend calculation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6. UI Layer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 err="1"/>
              <a:t>Streamlit</a:t>
            </a:r>
            <a:r>
              <a:rPr lang="en-IN" sz="1800" dirty="0"/>
              <a:t> app displays insights through dashboard, charts, filters and alerts</a:t>
            </a:r>
          </a:p>
        </p:txBody>
      </p:sp>
    </p:spTree>
    <p:extLst>
      <p:ext uri="{BB962C8B-B14F-4D97-AF65-F5344CB8AC3E}">
        <p14:creationId xmlns:p14="http://schemas.microsoft.com/office/powerpoint/2010/main" val="108303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6115D-10F6-68DD-A521-5B439DB5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1DAF-F0D3-00A2-DB5B-B15C7F40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86612-BFA5-E68E-5654-9CA1D565F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82" y="1056469"/>
            <a:ext cx="5650118" cy="487569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1. Python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Main Programming Language used for development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Used for data processing, </a:t>
            </a:r>
            <a:r>
              <a:rPr lang="en-US" sz="1800" dirty="0" err="1"/>
              <a:t>Ml</a:t>
            </a:r>
            <a:r>
              <a:rPr lang="en-US" sz="1800" dirty="0"/>
              <a:t> model building, and API integration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2. Pandas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Used for data manipulation and analysis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Handles CSV files, grouping and trend calculations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3. Scikit-Learn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Used for machine learning and model development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TF-IDF vectorizer for feature extraction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Linear SVC for sentiment classification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4. </a:t>
            </a:r>
            <a:r>
              <a:rPr lang="en-US" sz="2000" b="1" dirty="0" err="1"/>
              <a:t>Streamlit</a:t>
            </a:r>
            <a:endParaRPr lang="en-US" sz="2000" b="1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Used to build interactive web application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Dashboard, charts, filters, user input handling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C45B-A25C-22A5-946D-B2F02F95F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E6D9C8-16B1-4A06-81BD-8FC1103515A7}"/>
              </a:ext>
            </a:extLst>
          </p:cNvPr>
          <p:cNvSpPr txBox="1">
            <a:spLocks/>
          </p:cNvSpPr>
          <p:nvPr/>
        </p:nvSpPr>
        <p:spPr>
          <a:xfrm>
            <a:off x="6019369" y="1156980"/>
            <a:ext cx="5650118" cy="434477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984" indent="-180984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5. Altair</a:t>
            </a:r>
            <a:endParaRPr lang="en-IN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Used for professional trend visualization</a:t>
            </a:r>
            <a:endParaRPr lang="en-IN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Weekly negative sentiment trend charts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effectLst/>
              </a:rPr>
              <a:t>6. YouTube Data API V3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Used to fetch real-time YouTube comments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Enable live senti</a:t>
            </a:r>
            <a:r>
              <a:rPr lang="en-US" sz="1800" dirty="0"/>
              <a:t>ment analysis from videos URLs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effectLst/>
              </a:rPr>
              <a:t>7. </a:t>
            </a:r>
            <a:r>
              <a:rPr lang="en-US" sz="2000" b="1" dirty="0" err="1">
                <a:effectLst/>
              </a:rPr>
              <a:t>Joblib</a:t>
            </a:r>
            <a:endParaRPr lang="en-US" sz="2000" b="1" dirty="0">
              <a:effectLst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Used to save and load trained model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Enables model reuse without retraining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8. Regular Expression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Used </a:t>
            </a:r>
            <a:r>
              <a:rPr lang="en-US" sz="1800" dirty="0"/>
              <a:t>for text cleaning and preprocessing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URL </a:t>
            </a:r>
            <a:r>
              <a:rPr lang="en-US" sz="1800" dirty="0"/>
              <a:t>removal, negation handling, slang normalization</a:t>
            </a:r>
            <a:endParaRPr lang="en-IN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690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4581-B739-FE51-B5FA-5BB1B95F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BC3D-F756-C4AB-A5A6-44CA09CA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3EE2-389D-EEF0-E0B6-99DBBB12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080281"/>
            <a:ext cx="5630333" cy="469484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Scenario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A consumer electronics brand launches a new smartphone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After Launch: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Thousands of YouTube comments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Product reviews on e-commerce sites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Social media discussion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Customer complaints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Manually analyzing the feedback is impossible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How our system is used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1. Marketing team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Monitor overall public sentiment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Tracks weekly negative sentiment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70FE-6FA5-0F0D-815B-9EDCEDE85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3BED23-F684-109B-A1FC-859CEE8D4398}"/>
              </a:ext>
            </a:extLst>
          </p:cNvPr>
          <p:cNvSpPr txBox="1">
            <a:spLocks/>
          </p:cNvSpPr>
          <p:nvPr/>
        </p:nvSpPr>
        <p:spPr>
          <a:xfrm>
            <a:off x="5995612" y="1148192"/>
            <a:ext cx="5630333" cy="452688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984" indent="-180984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Identifies sudden negative trends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Measure campaign success</a:t>
            </a:r>
            <a:endParaRPr lang="en-US" sz="2000" b="1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Example: </a:t>
            </a:r>
            <a:r>
              <a:rPr lang="en-US" sz="1800" dirty="0"/>
              <a:t>If negative sentiment increases after an ad campaign, marketing team can adjust strategy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2. Product Team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Identifies common complaint key words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Detects issue like: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Battery problem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Heating issue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Delivery delay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Improves production version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Example: </a:t>
            </a:r>
            <a:r>
              <a:rPr lang="en-US" sz="1800" dirty="0"/>
              <a:t>If “battery drain” appears as top negative keyword, engineers investigate battery optimization</a:t>
            </a:r>
          </a:p>
        </p:txBody>
      </p:sp>
    </p:spTree>
    <p:extLst>
      <p:ext uri="{BB962C8B-B14F-4D97-AF65-F5344CB8AC3E}">
        <p14:creationId xmlns:p14="http://schemas.microsoft.com/office/powerpoint/2010/main" val="7585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3CEB-8EDE-9C5C-369E-304519FA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1461-7265-2F23-2E90-F6CA4A0D5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080281"/>
            <a:ext cx="5630333" cy="263918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3. Customer support team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Filters only negative commands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Detects sarcastic complaints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Prioritizes serious customer issues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Example: Sarcastic comments like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“Wow amazing battery life.. Dies in 2 hours</a:t>
            </a:r>
            <a:r>
              <a:rPr lang="en-IN" sz="1800" dirty="0"/>
              <a:t>😂</a:t>
            </a:r>
            <a:r>
              <a:rPr lang="en-US" sz="1800" dirty="0"/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Gets flagged for urgent review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87E16-4BBC-ECE1-F4E9-CC4A66ED6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8</a:t>
            </a:fld>
            <a:endParaRPr lang="en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E8C956-BC23-D341-87DB-137F51EBE63B}"/>
              </a:ext>
            </a:extLst>
          </p:cNvPr>
          <p:cNvSpPr txBox="1">
            <a:spLocks/>
          </p:cNvSpPr>
          <p:nvPr/>
        </p:nvSpPr>
        <p:spPr>
          <a:xfrm>
            <a:off x="6096000" y="1189138"/>
            <a:ext cx="5630333" cy="207492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984" indent="-180984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4. Management / Decision makers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Sees dashboard summary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Track region wise sentiment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Get alert for negative spike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Example: </a:t>
            </a:r>
            <a:r>
              <a:rPr lang="en-US" sz="1800" dirty="0"/>
              <a:t>If South region shows highest negative %, company investigates regional distribution problem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466FA-7EAD-8455-595C-DB4A4EE2A1BE}"/>
              </a:ext>
            </a:extLst>
          </p:cNvPr>
          <p:cNvSpPr txBox="1"/>
          <p:nvPr/>
        </p:nvSpPr>
        <p:spPr>
          <a:xfrm>
            <a:off x="381777" y="3833769"/>
            <a:ext cx="2378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Real-time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0C9EC-882E-AC7C-3BB9-EE1C6CEA8A5C}"/>
              </a:ext>
            </a:extLst>
          </p:cNvPr>
          <p:cNvSpPr txBox="1"/>
          <p:nvPr/>
        </p:nvSpPr>
        <p:spPr>
          <a:xfrm>
            <a:off x="465668" y="4348183"/>
            <a:ext cx="1782583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Customer Post Comments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BC3D7-E169-6B1C-7157-C9D390EBE1B9}"/>
              </a:ext>
            </a:extLst>
          </p:cNvPr>
          <p:cNvSpPr txBox="1"/>
          <p:nvPr/>
        </p:nvSpPr>
        <p:spPr>
          <a:xfrm>
            <a:off x="2681020" y="4348182"/>
            <a:ext cx="1782583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System fetches via YouTube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602D5-E761-64F4-EE3C-CB47650A6AE0}"/>
              </a:ext>
            </a:extLst>
          </p:cNvPr>
          <p:cNvSpPr txBox="1"/>
          <p:nvPr/>
        </p:nvSpPr>
        <p:spPr>
          <a:xfrm>
            <a:off x="4896372" y="4348181"/>
            <a:ext cx="1782583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Model predict Sentiment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FCB071-AAA1-6C1C-1C6D-944DDBFA1547}"/>
              </a:ext>
            </a:extLst>
          </p:cNvPr>
          <p:cNvSpPr txBox="1"/>
          <p:nvPr/>
        </p:nvSpPr>
        <p:spPr>
          <a:xfrm>
            <a:off x="7111724" y="4348180"/>
            <a:ext cx="1782583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Sarcasm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197F1E-B467-D114-9F18-6770A5C468D4}"/>
              </a:ext>
            </a:extLst>
          </p:cNvPr>
          <p:cNvSpPr txBox="1"/>
          <p:nvPr/>
        </p:nvSpPr>
        <p:spPr>
          <a:xfrm>
            <a:off x="9460063" y="4348179"/>
            <a:ext cx="1487570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Trend updated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01CD9-C8E7-04AD-E1A2-88EB32AC670C}"/>
              </a:ext>
            </a:extLst>
          </p:cNvPr>
          <p:cNvSpPr txBox="1"/>
          <p:nvPr/>
        </p:nvSpPr>
        <p:spPr>
          <a:xfrm>
            <a:off x="9460062" y="5249303"/>
            <a:ext cx="1487571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Dashboard refreshed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7505DA-6CF5-F530-4506-BDF3927922D0}"/>
              </a:ext>
            </a:extLst>
          </p:cNvPr>
          <p:cNvSpPr txBox="1"/>
          <p:nvPr/>
        </p:nvSpPr>
        <p:spPr>
          <a:xfrm>
            <a:off x="7128583" y="5249304"/>
            <a:ext cx="1782583" cy="64633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Alert </a:t>
            </a:r>
          </a:p>
          <a:p>
            <a:pPr algn="ctr"/>
            <a:r>
              <a:rPr lang="en-IN" dirty="0"/>
              <a:t>Trigger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849564-0BA3-CAE1-EB5C-6F180504518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248251" y="4671348"/>
            <a:ext cx="43276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4A97DA-78C4-FFCB-E455-37C34663CE74}"/>
              </a:ext>
            </a:extLst>
          </p:cNvPr>
          <p:cNvCxnSpPr/>
          <p:nvPr/>
        </p:nvCxnSpPr>
        <p:spPr>
          <a:xfrm flipV="1">
            <a:off x="4463603" y="4671343"/>
            <a:ext cx="43276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07D337-BA5C-4BA2-7C43-C4BAB1F8E37A}"/>
              </a:ext>
            </a:extLst>
          </p:cNvPr>
          <p:cNvCxnSpPr/>
          <p:nvPr/>
        </p:nvCxnSpPr>
        <p:spPr>
          <a:xfrm flipV="1">
            <a:off x="6695814" y="4671342"/>
            <a:ext cx="43276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332276-733F-4107-2F3A-5450BB3D169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911166" y="4671342"/>
            <a:ext cx="548897" cy="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A52E5C-7543-8EBB-1B6E-A1C7573F2E0C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10203848" y="4994510"/>
            <a:ext cx="0" cy="254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E71C1E-1BE0-279F-40D8-3EEEE6BB595B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flipH="1">
            <a:off x="8911166" y="5572469"/>
            <a:ext cx="54889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69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91E0-10D3-8569-7F49-C561727F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CA-2176-455B-1829-46571EDD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values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A408-E21E-3BE4-E65B-F7B871022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134711"/>
            <a:ext cx="5194904" cy="475258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1. Multilingual + Code mix handling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Handles Tamil – English mix comments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Slang normalization (mass, </a:t>
            </a:r>
            <a:r>
              <a:rPr lang="en-US" sz="1800" dirty="0" err="1"/>
              <a:t>semma</a:t>
            </a:r>
            <a:r>
              <a:rPr lang="en-US" sz="1800" dirty="0"/>
              <a:t>, </a:t>
            </a:r>
            <a:r>
              <a:rPr lang="en-US" sz="1800" dirty="0" err="1"/>
              <a:t>mokka</a:t>
            </a:r>
            <a:r>
              <a:rPr lang="en-US" sz="1800" dirty="0"/>
              <a:t>, waste)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Negation handling (not good </a:t>
            </a:r>
            <a:r>
              <a:rPr lang="en-IN" sz="1800" dirty="0"/>
              <a:t>→ </a:t>
            </a:r>
            <a:r>
              <a:rPr lang="en-US" sz="1800" dirty="0" err="1"/>
              <a:t>not_good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2. Sarcasm Detection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Detect sarcasm using emoji + pattern logic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Flags tricky comments like: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“Wow great service…delivery took 10 days”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3. Real-Time YouTube integration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Users pastes you tube URL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System fetch live comments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Performs instant sentiment analysis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7DB76-6DC1-C502-7793-598549667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9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42B17E-4CEE-19A2-804F-8339C021E459}"/>
              </a:ext>
            </a:extLst>
          </p:cNvPr>
          <p:cNvSpPr txBox="1">
            <a:spLocks/>
          </p:cNvSpPr>
          <p:nvPr/>
        </p:nvSpPr>
        <p:spPr>
          <a:xfrm>
            <a:off x="6006496" y="1036737"/>
            <a:ext cx="5194904" cy="530658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984" indent="-180984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4. Business Oriented dashboard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Weekly negative % trends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Top negative key words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Region wise analysis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Alert system for negative spikes</a:t>
            </a:r>
            <a:endParaRPr lang="en-US" sz="18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5. Alert systems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Detect sudden sentiment spikes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Flags delivery complaints if above threshold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Identifies worst performance region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6. Professional UI + Automation ready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Interactive dashboard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CSV download support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Ready for deployment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Scalable to real enterprise environment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6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2712-DC1E-0FDE-97C6-0536C326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66CD-D9B3-1C60-BCA7-234B5888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 &amp;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F6902-16C7-4C61-4546-1BE96D320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12" y="994948"/>
            <a:ext cx="4909889" cy="493211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1. Upgrade to Advance AI model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Replace Linear SVC with Transform models: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XLM-</a:t>
            </a:r>
            <a:r>
              <a:rPr lang="en-US" sz="1800" dirty="0" err="1"/>
              <a:t>RoBERTa</a:t>
            </a:r>
            <a:endParaRPr lang="en-US" sz="18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 err="1"/>
              <a:t>mBERT</a:t>
            </a:r>
            <a:endParaRPr lang="en-US" sz="18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Better multilingual understanding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Improved sarcasm and contextual detection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2. Aspect Based Sentiment Analysis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Battery → Positive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Camera → Negative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Delivery → Negative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3. Database Integration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Store all comments in MySQL / PostgreSQL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Track historical data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Long-term trend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B377-6FF8-5FBD-6C83-E93C34C77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91B9C-FDBD-2464-2044-AF899D27E0EF}"/>
              </a:ext>
            </a:extLst>
          </p:cNvPr>
          <p:cNvSpPr txBox="1">
            <a:spLocks/>
          </p:cNvSpPr>
          <p:nvPr/>
        </p:nvSpPr>
        <p:spPr>
          <a:xfrm>
            <a:off x="5778327" y="994948"/>
            <a:ext cx="4909889" cy="459100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984" indent="-180984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4. Real-time alerts and notification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Email alerts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SMS alerts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Slack/Teams notification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5. Multi Platform Integration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Twitter/X API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Instagram comments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Facebook page reviews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Amazon/Flipkart scrapping (if allowed)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6. Cloud Deployment &amp; Scaling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Deploy on Azure/AWS/GCP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Auto scaling backend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Enterprise level security</a:t>
            </a:r>
          </a:p>
        </p:txBody>
      </p:sp>
    </p:spTree>
    <p:extLst>
      <p:ext uri="{BB962C8B-B14F-4D97-AF65-F5344CB8AC3E}">
        <p14:creationId xmlns:p14="http://schemas.microsoft.com/office/powerpoint/2010/main" val="3210241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E689-DA89-B9A6-38DF-54423923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D0ABF-22C8-30A5-278E-E91B1231E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11</a:t>
            </a:fld>
            <a:endParaRPr lang="en-C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34EC4F-D328-150B-E682-95F6F2ACA6D0}"/>
              </a:ext>
            </a:extLst>
          </p:cNvPr>
          <p:cNvSpPr txBox="1">
            <a:spLocks/>
          </p:cNvSpPr>
          <p:nvPr/>
        </p:nvSpPr>
        <p:spPr>
          <a:xfrm>
            <a:off x="4667983" y="2714694"/>
            <a:ext cx="6020233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500" b="1" kern="1200">
                <a:solidFill>
                  <a:srgbClr val="002060"/>
                </a:solidFill>
                <a:latin typeface="+mn-lt"/>
                <a:ea typeface="Segoe UI Historic" panose="020B0502040204020203" pitchFamily="34" charset="0"/>
                <a:cs typeface="Segoe UI Historic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950234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Custom 2">
      <a:dk1>
        <a:srgbClr val="3F3F3F"/>
      </a:dk1>
      <a:lt1>
        <a:srgbClr val="FFFFFF"/>
      </a:lt1>
      <a:dk2>
        <a:srgbClr val="002060"/>
      </a:dk2>
      <a:lt2>
        <a:srgbClr val="E7E6E6"/>
      </a:lt2>
      <a:accent1>
        <a:srgbClr val="D8D8D8"/>
      </a:accent1>
      <a:accent2>
        <a:srgbClr val="7F7F7F"/>
      </a:accent2>
      <a:accent3>
        <a:srgbClr val="0070C0"/>
      </a:accent3>
      <a:accent4>
        <a:srgbClr val="F4B183"/>
      </a:accent4>
      <a:accent5>
        <a:srgbClr val="000066"/>
      </a:accent5>
      <a:accent6>
        <a:srgbClr val="ED7D31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Pattern Overview for Intel[724]" id="{68AC1855-D0F8-4377-8505-044080BEDED5}" vid="{88C21425-C578-4ED2-9B2B-730CB433F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1054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Bodoni MT</vt:lpstr>
      <vt:lpstr>Calibri</vt:lpstr>
      <vt:lpstr>Wingdings</vt:lpstr>
      <vt:lpstr>3_Office Theme</vt:lpstr>
      <vt:lpstr>PowerPoint Presentation</vt:lpstr>
      <vt:lpstr>Problem Statement</vt:lpstr>
      <vt:lpstr>Solution</vt:lpstr>
      <vt:lpstr>Architecture</vt:lpstr>
      <vt:lpstr>Architecture</vt:lpstr>
      <vt:lpstr>Technologies Used</vt:lpstr>
      <vt:lpstr>Real-time use case</vt:lpstr>
      <vt:lpstr>PowerPoint Presentation</vt:lpstr>
      <vt:lpstr>Unique values of the project</vt:lpstr>
      <vt:lpstr>Future Scope &amp;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Thangaraj</dc:creator>
  <cp:lastModifiedBy>Ravi Manikandan</cp:lastModifiedBy>
  <cp:revision>9</cp:revision>
  <dcterms:created xsi:type="dcterms:W3CDTF">2026-02-09T11:24:45Z</dcterms:created>
  <dcterms:modified xsi:type="dcterms:W3CDTF">2026-03-01T13:47:36Z</dcterms:modified>
</cp:coreProperties>
</file>